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80C788-704D-478A-9547-E1E779CA188D}" v="4" dt="2025-12-12T16:52:43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96" y="396"/>
      </p:cViewPr>
      <p:guideLst>
        <p:guide pos="3840"/>
        <p:guide orient="horz" pos="21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353933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653349614" name="Segnaposto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1F276F6-C998-49D3-8877-06E0319C3D4D}" type="datetimeFigureOut">
              <a:rPr lang="it-IT"/>
              <a:t>12/12/2025</a:t>
            </a:fld>
            <a:endParaRPr lang="it-IT"/>
          </a:p>
        </p:txBody>
      </p:sp>
      <p:sp>
        <p:nvSpPr>
          <p:cNvPr id="543437779" name="Segnaposto immagine diapositiva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it-IT"/>
          </a:p>
        </p:txBody>
      </p:sp>
      <p:sp>
        <p:nvSpPr>
          <p:cNvPr id="415968794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947123959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21283797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DA57ED0-172E-4EC7-80D3-F46C13D8FECE}" type="slidenum">
              <a:rPr lang="it-IT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0337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71993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10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8F122C-5687-EFA0-C52E-42752354C00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4041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7732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169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3BDCEA-751D-DB74-4953-18C20759C0D2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73912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91621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03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872411-4428-52DC-4064-023822A0F01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82070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07467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270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35071A-0E44-F61A-0E4B-8B7FD2BF659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0880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413548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753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F1F1A8-8303-ABCE-33D9-EB4E15DA1241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221439" name="Tito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792888699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  <p:sp>
        <p:nvSpPr>
          <p:cNvPr id="4753985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AAD347D-5ACD-4C99-B74B-A9C85AD731AF}" type="datetimeFigureOut">
              <a:rPr lang="en-US"/>
              <a:t>12/12/2025</a:t>
            </a:fld>
            <a:endParaRPr lang="en-US"/>
          </a:p>
        </p:txBody>
      </p:sp>
      <p:sp>
        <p:nvSpPr>
          <p:cNvPr id="1860097045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4628951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23366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438761760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343895424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09A250-FF31-4206-8172-F9D3106AACB1}" type="datetimeFigureOut">
              <a:rPr lang="en-US"/>
              <a:t>12/12/2025</a:t>
            </a:fld>
            <a:endParaRPr lang="en-US"/>
          </a:p>
        </p:txBody>
      </p:sp>
      <p:sp>
        <p:nvSpPr>
          <p:cNvPr id="113684911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3227097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378262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2048941994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1639276311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96027F-7875-4030-9381-8BD8C4F21935}" type="datetimeFigureOut">
              <a:rPr lang="en-US"/>
              <a:t>12/12/2025</a:t>
            </a:fld>
            <a:endParaRPr lang="en-US"/>
          </a:p>
        </p:txBody>
      </p:sp>
      <p:sp>
        <p:nvSpPr>
          <p:cNvPr id="1433559625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2392678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573576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431004056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067788400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003300898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96027F-7875-4030-9381-8BD8C4F21935}" type="datetimeFigureOut">
              <a:rPr lang="en-US"/>
              <a:t>12/12/2025</a:t>
            </a:fld>
            <a:endParaRPr lang="en-US"/>
          </a:p>
        </p:txBody>
      </p:sp>
      <p:sp>
        <p:nvSpPr>
          <p:cNvPr id="1217858659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0339186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43005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776855152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1492198202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173520959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85448940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371895024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96027F-7875-4030-9381-8BD8C4F21935}" type="datetimeFigureOut">
              <a:rPr lang="en-US"/>
              <a:t>12/12/2025</a:t>
            </a:fld>
            <a:endParaRPr lang="en-US"/>
          </a:p>
        </p:txBody>
      </p:sp>
      <p:sp>
        <p:nvSpPr>
          <p:cNvPr id="1461313016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614464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619050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410178457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09A250-FF31-4206-8172-F9D3106AACB1}" type="datetimeFigureOut">
              <a:rPr lang="en-US"/>
              <a:t>12/12/2025</a:t>
            </a:fld>
            <a:endParaRPr lang="en-US"/>
          </a:p>
        </p:txBody>
      </p:sp>
      <p:sp>
        <p:nvSpPr>
          <p:cNvPr id="867734396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4894996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164648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09A250-FF31-4206-8172-F9D3106AACB1}" type="datetimeFigureOut">
              <a:rPr lang="en-US"/>
              <a:t>12/12/2025</a:t>
            </a:fld>
            <a:endParaRPr lang="en-US"/>
          </a:p>
        </p:txBody>
      </p:sp>
      <p:sp>
        <p:nvSpPr>
          <p:cNvPr id="776360359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2101919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883170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209404229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052700130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1548947064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09A250-FF31-4206-8172-F9D3106AACB1}" type="datetimeFigureOut">
              <a:rPr lang="en-US"/>
              <a:t>12/12/2025</a:t>
            </a:fld>
            <a:endParaRPr lang="en-US"/>
          </a:p>
        </p:txBody>
      </p:sp>
      <p:sp>
        <p:nvSpPr>
          <p:cNvPr id="238850322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3306562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61047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140792946" name="Segnaposto immagine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it-IT"/>
          </a:p>
        </p:txBody>
      </p:sp>
      <p:sp>
        <p:nvSpPr>
          <p:cNvPr id="543255968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1952926699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09A250-FF31-4206-8172-F9D3106AACB1}" type="datetimeFigureOut">
              <a:rPr lang="en-US"/>
              <a:t>12/12/2025</a:t>
            </a:fld>
            <a:endParaRPr lang="en-US"/>
          </a:p>
        </p:txBody>
      </p:sp>
      <p:sp>
        <p:nvSpPr>
          <p:cNvPr id="1378551281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1805510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37652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231575564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893282142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09A250-FF31-4206-8172-F9D3106AACB1}" type="datetimeFigureOut">
              <a:rPr lang="en-US"/>
              <a:t>12/12/2025</a:t>
            </a:fld>
            <a:endParaRPr lang="en-US"/>
          </a:p>
        </p:txBody>
      </p:sp>
      <p:sp>
        <p:nvSpPr>
          <p:cNvPr id="1595945893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2187085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92801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636701211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685932838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AAD347D-5ACD-4C99-B74B-A9C85AD731AF}" type="datetimeFigureOut">
              <a:rPr lang="en-US"/>
              <a:t>12/12/2025</a:t>
            </a:fld>
            <a:endParaRPr lang="en-US"/>
          </a:p>
        </p:txBody>
      </p:sp>
      <p:sp>
        <p:nvSpPr>
          <p:cNvPr id="209371424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7802379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39081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922878705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84082720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AAD347D-5ACD-4C99-B74B-A9C85AD731AF}" type="datetimeFigureOut">
              <a:rPr lang="en-US"/>
              <a:t>12/12/2025</a:t>
            </a:fld>
            <a:endParaRPr lang="en-US"/>
          </a:p>
        </p:txBody>
      </p:sp>
      <p:sp>
        <p:nvSpPr>
          <p:cNvPr id="611982662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1176917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57F1E4F-1CFF-5643-939E-02111984F565}" type="slidenum">
              <a:rPr lang="en-US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175858" name="Titolo 1"/>
          <p:cNvSpPr>
            <a:spLocks noGrp="1"/>
          </p:cNvSpPr>
          <p:nvPr>
            <p:ph type="ctrTitle"/>
          </p:nvPr>
        </p:nvSpPr>
        <p:spPr bwMode="auto">
          <a:xfrm>
            <a:off x="552993" y="123032"/>
            <a:ext cx="11103429" cy="103901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>
              <a:defRPr/>
            </a:pPr>
            <a:r>
              <a:rPr lang="it-IT" sz="3200" b="1"/>
              <a:t>UNIVERSITÀ DEGLI STUDI DI SALERNO</a:t>
            </a:r>
            <a:endParaRPr lang="it-IT" sz="3200"/>
          </a:p>
        </p:txBody>
      </p:sp>
      <p:pic>
        <p:nvPicPr>
          <p:cNvPr id="1109116748" name="Immagin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06288" y="1833959"/>
            <a:ext cx="1779423" cy="1772454"/>
          </a:xfrm>
          <a:prstGeom prst="rect">
            <a:avLst/>
          </a:prstGeom>
        </p:spPr>
      </p:pic>
      <p:sp>
        <p:nvSpPr>
          <p:cNvPr id="1592199903" name="Titolo 1"/>
          <p:cNvSpPr txBox="1"/>
          <p:nvPr/>
        </p:nvSpPr>
        <p:spPr bwMode="auto">
          <a:xfrm>
            <a:off x="487951" y="794941"/>
            <a:ext cx="11103429" cy="10390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it-IT" sz="1800" b="1"/>
              <a:t>Dipartimento di Ingegneria dell’Informazione ed Elettrica e Matematica applicata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it-IT" sz="1600" b="1" i="1"/>
              <a:t>Corso di Laurea in Ingegneria Informatica </a:t>
            </a:r>
            <a:endParaRPr sz="1600" i="1"/>
          </a:p>
        </p:txBody>
      </p:sp>
      <p:sp>
        <p:nvSpPr>
          <p:cNvPr id="1743336544" name="Titolo 1"/>
          <p:cNvSpPr txBox="1"/>
          <p:nvPr/>
        </p:nvSpPr>
        <p:spPr bwMode="auto">
          <a:xfrm>
            <a:off x="727165" y="3511266"/>
            <a:ext cx="11103428" cy="14536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it-IT" sz="3200" b="1" i="1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Sviluppo di un’applicazione di supporto alla guida:</a:t>
            </a:r>
            <a:endParaRPr sz="3200" b="1" i="1" u="none" strike="noStrike" cap="none" spc="0">
              <a:solidFill>
                <a:schemeClr val="tx1"/>
              </a:solidFill>
              <a:latin typeface="Calibri Light"/>
              <a:cs typeface="Calibri Light"/>
            </a:endParaRPr>
          </a:p>
          <a:p>
            <a:pPr>
              <a:defRPr/>
            </a:pPr>
            <a:r>
              <a:rPr lang="it-IT" sz="3200" b="1" i="1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progettazione e implementazione di un frontend per</a:t>
            </a:r>
            <a:endParaRPr sz="3200" b="1" i="1" u="none" strike="noStrike" cap="none" spc="0">
              <a:solidFill>
                <a:schemeClr val="tx1"/>
              </a:solidFill>
              <a:latin typeface="Calibri Light"/>
              <a:cs typeface="Calibri Light"/>
            </a:endParaRPr>
          </a:p>
          <a:p>
            <a:pPr>
              <a:defRPr/>
            </a:pPr>
            <a:r>
              <a:rPr lang="it-IT" sz="3200" b="1" i="1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dispositivi mobili</a:t>
            </a:r>
            <a:endParaRPr sz="3200" b="1"/>
          </a:p>
        </p:txBody>
      </p:sp>
      <p:sp>
        <p:nvSpPr>
          <p:cNvPr id="1320792454" name="Sottotitolo 7"/>
          <p:cNvSpPr>
            <a:spLocks noGrp="1"/>
          </p:cNvSpPr>
          <p:nvPr>
            <p:ph type="subTitle" idx="1"/>
          </p:nvPr>
        </p:nvSpPr>
        <p:spPr bwMode="auto">
          <a:xfrm>
            <a:off x="4263563" y="6214902"/>
            <a:ext cx="3682285" cy="33188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it-IT" sz="2000" b="1">
                <a:latin typeface="+mj-lt"/>
              </a:rPr>
              <a:t>Anno Accademico 20</a:t>
            </a:r>
            <a:r>
              <a:rPr lang="en-US" sz="2000" b="1">
                <a:latin typeface="Calibri Light"/>
              </a:rPr>
              <a:t>24</a:t>
            </a:r>
            <a:r>
              <a:rPr lang="it-IT" sz="2000" b="1">
                <a:latin typeface="Calibri Light"/>
              </a:rPr>
              <a:t>/20</a:t>
            </a:r>
            <a:r>
              <a:rPr lang="en-US" sz="2000" b="1">
                <a:latin typeface="Calibri Light"/>
              </a:rPr>
              <a:t>25</a:t>
            </a:r>
            <a:endParaRPr/>
          </a:p>
        </p:txBody>
      </p:sp>
      <p:sp>
        <p:nvSpPr>
          <p:cNvPr id="1742453178" name="Google Shape;89;p13"/>
          <p:cNvSpPr/>
          <p:nvPr/>
        </p:nvSpPr>
        <p:spPr bwMode="auto">
          <a:xfrm>
            <a:off x="727164" y="5074533"/>
            <a:ext cx="3108539" cy="615949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0000" tIns="45000" rIns="90000" bIns="45000" numCol="1" spcCol="0" rtlCol="0" fromWordArt="0" anchor="ctr" anchorCtr="0" forceAA="0" compatLnSpc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800" b="0" i="1" u="none" strike="noStrike" cap="none">
                <a:solidFill>
                  <a:srgbClr val="000000"/>
                </a:solidFill>
                <a:latin typeface="+mj-lt"/>
                <a:ea typeface="Verdana"/>
                <a:cs typeface="Verdana"/>
              </a:rPr>
              <a:t>Relatore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 Light"/>
                <a:ea typeface="Verdana"/>
                <a:cs typeface="Verdana"/>
              </a:rPr>
              <a:t>:</a:t>
            </a:r>
            <a:endParaRPr sz="1800" b="0" i="0" u="none" strike="noStrike" cap="none">
              <a:solidFill>
                <a:srgbClr val="000000"/>
              </a:solidFill>
              <a:latin typeface="+mj-lt"/>
              <a:ea typeface="Verdana"/>
              <a:cs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800" b="0" i="1" u="none" strike="noStrike" cap="none">
                <a:solidFill>
                  <a:srgbClr val="000000"/>
                </a:solidFill>
                <a:latin typeface="+mj-lt"/>
                <a:ea typeface="Verdana"/>
                <a:cs typeface="Verdana"/>
              </a:rPr>
              <a:t>Ch.mo</a:t>
            </a:r>
            <a:r>
              <a:rPr lang="it-IT" sz="1800" b="1" i="1" u="none" strike="noStrike" cap="none">
                <a:solidFill>
                  <a:srgbClr val="000000"/>
                </a:solidFill>
                <a:latin typeface="Calibri Light"/>
                <a:ea typeface="Verdana"/>
                <a:cs typeface="Verdana"/>
              </a:rPr>
              <a:t> </a:t>
            </a:r>
            <a:r>
              <a:rPr lang="it-IT" sz="1800" b="0" i="1" u="none" strike="noStrike" cap="none">
                <a:solidFill>
                  <a:srgbClr val="000000"/>
                </a:solidFill>
                <a:latin typeface="Calibri Light"/>
                <a:ea typeface="Verdana"/>
                <a:cs typeface="Verdana"/>
              </a:rPr>
              <a:t>Prof.</a:t>
            </a:r>
            <a:r>
              <a:rPr lang="it-IT" sz="1800" b="1" i="1" u="none" strike="noStrike" cap="none">
                <a:solidFill>
                  <a:srgbClr val="000000"/>
                </a:solidFill>
                <a:latin typeface="Calibri Light"/>
                <a:ea typeface="Verdana"/>
                <a:cs typeface="Verdana"/>
              </a:rPr>
              <a:t>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 Light"/>
                <a:ea typeface="Verdana"/>
                <a:cs typeface="Verdana"/>
              </a:rPr>
              <a:t>Nicola Capuano</a:t>
            </a:r>
          </a:p>
        </p:txBody>
      </p:sp>
      <p:sp>
        <p:nvSpPr>
          <p:cNvPr id="1353361743" name="Google Shape;90;p13"/>
          <p:cNvSpPr/>
          <p:nvPr/>
        </p:nvSpPr>
        <p:spPr bwMode="auto">
          <a:xfrm>
            <a:off x="9121906" y="4879986"/>
            <a:ext cx="2342927" cy="1005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b="0" i="1" u="none" strike="noStrike" cap="none" dirty="0">
                <a:solidFill>
                  <a:srgbClr val="000000"/>
                </a:solidFill>
                <a:latin typeface="+mj-lt"/>
                <a:ea typeface="Verdana"/>
                <a:cs typeface="Verdana"/>
              </a:rPr>
              <a:t>Candidato</a:t>
            </a:r>
            <a:r>
              <a:rPr lang="it-IT" i="1" dirty="0">
                <a:solidFill>
                  <a:srgbClr val="000000"/>
                </a:solidFill>
                <a:latin typeface="+mj-lt"/>
                <a:ea typeface="Verdana"/>
                <a:cs typeface="Verdana"/>
              </a:rPr>
              <a:t>:</a:t>
            </a:r>
            <a:endParaRPr b="0" i="0" u="none" strike="noStrike" cap="none" dirty="0">
              <a:solidFill>
                <a:srgbClr val="000000"/>
              </a:solidFill>
              <a:latin typeface="+mj-lt"/>
              <a:ea typeface="Verdana"/>
              <a:cs typeface="Verdana"/>
            </a:endParaRPr>
          </a:p>
          <a:p>
            <a:pPr marL="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 i="1" u="none" strike="noStrike" cap="none" dirty="0">
                <a:solidFill>
                  <a:srgbClr val="000000"/>
                </a:solidFill>
                <a:latin typeface="+mj-lt"/>
                <a:ea typeface="Verdana"/>
                <a:cs typeface="Verdana"/>
              </a:rPr>
              <a:t>Emanuele Tocci</a:t>
            </a:r>
            <a:endParaRPr dirty="0">
              <a:latin typeface="+mj-lt"/>
            </a:endParaRPr>
          </a:p>
          <a:p>
            <a:pPr marL="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b="0" i="1" u="none" strike="noStrike" cap="none" dirty="0" err="1">
                <a:solidFill>
                  <a:schemeClr val="dk1"/>
                </a:solidFill>
                <a:latin typeface="+mj-lt"/>
                <a:ea typeface="Verdana"/>
                <a:cs typeface="Verdana"/>
              </a:rPr>
              <a:t>Matr</a:t>
            </a:r>
            <a:r>
              <a:rPr lang="it-IT" b="0" i="1" u="none" strike="noStrike" cap="none" dirty="0">
                <a:solidFill>
                  <a:schemeClr val="dk1"/>
                </a:solidFill>
                <a:latin typeface="+mj-lt"/>
                <a:ea typeface="Verdana"/>
                <a:cs typeface="Verdana"/>
              </a:rPr>
              <a:t>.</a:t>
            </a:r>
            <a:r>
              <a:rPr lang="it-IT" b="1" i="1" u="none" strike="noStrike" cap="none" dirty="0">
                <a:solidFill>
                  <a:schemeClr val="dk1"/>
                </a:solidFill>
                <a:latin typeface="Calibri Light"/>
                <a:ea typeface="Verdana"/>
                <a:cs typeface="Verdana"/>
              </a:rPr>
              <a:t> </a:t>
            </a:r>
            <a:r>
              <a:rPr lang="it-IT" sz="1800" b="1" i="1" u="none" strike="noStrike" cap="none" spc="0" dirty="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0612707488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Verdana"/>
              <a:cs typeface="Verdana"/>
            </a:endParaRPr>
          </a:p>
        </p:txBody>
      </p:sp>
      <p:pic>
        <p:nvPicPr>
          <p:cNvPr id="1787669835" name="Immagine 3"/>
          <p:cNvPicPr>
            <a:picLocks noChangeAspect="1"/>
          </p:cNvPicPr>
          <p:nvPr/>
        </p:nvPicPr>
        <p:blipFill rotWithShape="1">
          <a:blip r:embed="rId4"/>
          <a:srcRect l="4517" t="12184" r="4517" b="12184"/>
          <a:stretch/>
        </p:blipFill>
        <p:spPr bwMode="auto">
          <a:xfrm>
            <a:off x="9664728" y="6072869"/>
            <a:ext cx="1650376" cy="615947"/>
          </a:xfrm>
          <a:prstGeom prst="rect">
            <a:avLst/>
          </a:prstGeom>
        </p:spPr>
      </p:pic>
      <p:sp>
        <p:nvSpPr>
          <p:cNvPr id="401813358" name="Google Shape;89;p13"/>
          <p:cNvSpPr/>
          <p:nvPr/>
        </p:nvSpPr>
        <p:spPr bwMode="auto">
          <a:xfrm>
            <a:off x="727164" y="6072870"/>
            <a:ext cx="3108539" cy="615948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0000" tIns="45000" rIns="90000" bIns="45000" numCol="1" spcCol="0" rtlCol="0" fromWordArt="0" anchor="ctr" anchorCtr="0" forceAA="0" compatLnSpc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1" u="none" strike="noStrike" cap="none">
                <a:solidFill>
                  <a:srgbClr val="000000"/>
                </a:solidFill>
                <a:latin typeface="Calibri Light"/>
                <a:ea typeface="Verdana"/>
                <a:cs typeface="Verdana"/>
              </a:rPr>
              <a:t>Azienda Ospitante:</a:t>
            </a:r>
            <a:endParaRPr sz="1800" b="0" i="0" u="none" strike="noStrike" cap="none">
              <a:solidFill>
                <a:srgbClr val="000000"/>
              </a:solidFill>
              <a:latin typeface="Calibri Light"/>
              <a:ea typeface="Verdana"/>
              <a:cs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1" u="none" strike="noStrike" cap="none">
                <a:solidFill>
                  <a:srgbClr val="000000"/>
                </a:solidFill>
                <a:latin typeface="Calibri Light"/>
                <a:ea typeface="Verdana"/>
                <a:cs typeface="Verdana"/>
              </a:rPr>
              <a:t>MinervaS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9FAE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154776" name="Titolo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828675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it-IT" sz="2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DESCRIZIONE DEL PROBLEMA AFFRONTATO</a:t>
            </a:r>
            <a:endParaRPr sz="2800"/>
          </a:p>
        </p:txBody>
      </p:sp>
      <p:cxnSp>
        <p:nvCxnSpPr>
          <p:cNvPr id="1042787167" name="Connettore diritto 4"/>
          <p:cNvCxnSpPr/>
          <p:nvPr/>
        </p:nvCxnSpPr>
        <p:spPr bwMode="auto">
          <a:xfrm>
            <a:off x="450849" y="1346199"/>
            <a:ext cx="11290299" cy="0"/>
          </a:xfrm>
          <a:prstGeom prst="line">
            <a:avLst/>
          </a:prstGeom>
          <a:ln w="19050" cap="flat" cmpd="sng" algn="ctr">
            <a:solidFill>
              <a:srgbClr val="80994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2069158" name="Rettangolo con un angolo ritagliato 5"/>
          <p:cNvSpPr/>
          <p:nvPr/>
        </p:nvSpPr>
        <p:spPr bwMode="auto">
          <a:xfrm>
            <a:off x="0" y="6176962"/>
            <a:ext cx="11263167" cy="681036"/>
          </a:xfrm>
          <a:prstGeom prst="snip1Rect">
            <a:avLst>
              <a:gd name="adj" fmla="val 50000"/>
            </a:avLst>
          </a:prstGeom>
          <a:solidFill>
            <a:srgbClr val="667D33"/>
          </a:solidFill>
          <a:ln w="12700" cap="flat" cmpd="sng" algn="ctr">
            <a:solidFill>
              <a:srgbClr val="ADC77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it-IT"/>
          </a:p>
        </p:txBody>
      </p:sp>
      <p:pic>
        <p:nvPicPr>
          <p:cNvPr id="1490035906" name="Immagine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263167" y="6065065"/>
            <a:ext cx="858981" cy="855617"/>
          </a:xfrm>
          <a:prstGeom prst="rect">
            <a:avLst/>
          </a:prstGeom>
        </p:spPr>
      </p:pic>
      <p:sp>
        <p:nvSpPr>
          <p:cNvPr id="1903885703" name="CasellaDiTesto 8"/>
          <p:cNvSpPr txBox="1"/>
          <p:nvPr/>
        </p:nvSpPr>
        <p:spPr bwMode="auto">
          <a:xfrm>
            <a:off x="6870698" y="6332814"/>
            <a:ext cx="374649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>
                <a:solidFill>
                  <a:schemeClr val="bg1"/>
                </a:solidFill>
              </a:rPr>
              <a:t>UNIVERSITÀ DEGLI STUDI DI SALERNO  </a:t>
            </a:r>
            <a:endParaRPr/>
          </a:p>
        </p:txBody>
      </p:sp>
      <p:sp>
        <p:nvSpPr>
          <p:cNvPr id="1071399376" name="CasellaDiTesto 1071399375"/>
          <p:cNvSpPr txBox="1"/>
          <p:nvPr/>
        </p:nvSpPr>
        <p:spPr bwMode="auto">
          <a:xfrm>
            <a:off x="450847" y="1579559"/>
            <a:ext cx="1133529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just">
              <a:defRPr/>
            </a:pPr>
            <a:r>
              <a:rPr lang="it-IT"/>
              <a:t>Nel trasporto merci, la mancata integrazione tra documenti e strumenti di bordo genera un conflitto critico tra </a:t>
            </a:r>
            <a:r>
              <a:rPr lang="it-IT" b="1">
                <a:solidFill>
                  <a:srgbClr val="667D33"/>
                </a:solidFill>
              </a:rPr>
              <a:t>efficienza </a:t>
            </a:r>
            <a:r>
              <a:rPr lang="it-IT"/>
              <a:t>e </a:t>
            </a:r>
            <a:r>
              <a:rPr lang="it-IT" b="1">
                <a:solidFill>
                  <a:srgbClr val="667D33"/>
                </a:solidFill>
              </a:rPr>
              <a:t>sicurezza</a:t>
            </a:r>
            <a:r>
              <a:rPr lang="it-IT"/>
              <a:t>. Questo </a:t>
            </a:r>
            <a:r>
              <a:rPr lang="it-IT" i="1"/>
              <a:t>"gap"</a:t>
            </a:r>
            <a:r>
              <a:rPr lang="it-IT"/>
              <a:t> tecnologico impone operazioni manuali rischiose, che alimentano 3 criticità:</a:t>
            </a:r>
          </a:p>
        </p:txBody>
      </p:sp>
      <p:pic>
        <p:nvPicPr>
          <p:cNvPr id="1703284372" name="Immagine 170328437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76112" y="2649498"/>
            <a:ext cx="1166849" cy="1166849"/>
          </a:xfrm>
          <a:prstGeom prst="rect">
            <a:avLst/>
          </a:prstGeom>
        </p:spPr>
      </p:pic>
      <p:pic>
        <p:nvPicPr>
          <p:cNvPr id="641488093" name="Immagine 64148809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810018" y="2733442"/>
            <a:ext cx="998962" cy="998962"/>
          </a:xfrm>
          <a:prstGeom prst="rect">
            <a:avLst/>
          </a:prstGeom>
        </p:spPr>
      </p:pic>
      <p:sp>
        <p:nvSpPr>
          <p:cNvPr id="1289630086" name="CasellaDiTesto 1289630085"/>
          <p:cNvSpPr txBox="1"/>
          <p:nvPr/>
        </p:nvSpPr>
        <p:spPr bwMode="auto">
          <a:xfrm>
            <a:off x="439976" y="3981448"/>
            <a:ext cx="287870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>
                <a:solidFill>
                  <a:srgbClr val="667D33"/>
                </a:solidFill>
              </a:rPr>
              <a:t>Obsolescenza dei processi</a:t>
            </a:r>
            <a:endParaRPr b="1">
              <a:solidFill>
                <a:srgbClr val="667D33"/>
              </a:solidFill>
            </a:endParaRPr>
          </a:p>
        </p:txBody>
      </p:sp>
      <p:sp>
        <p:nvSpPr>
          <p:cNvPr id="1240304941" name="CasellaDiTesto 1240304940"/>
          <p:cNvSpPr txBox="1"/>
          <p:nvPr/>
        </p:nvSpPr>
        <p:spPr bwMode="auto">
          <a:xfrm>
            <a:off x="4514963" y="3981449"/>
            <a:ext cx="28891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it-IT" b="1">
                <a:solidFill>
                  <a:srgbClr val="667D33"/>
                </a:solidFill>
              </a:rPr>
              <a:t>Discontinuità </a:t>
            </a:r>
            <a:r>
              <a:rPr lang="en-US" b="1">
                <a:solidFill>
                  <a:srgbClr val="667D33"/>
                </a:solidFill>
              </a:rPr>
              <a:t>dei dati</a:t>
            </a:r>
            <a:endParaRPr b="1">
              <a:solidFill>
                <a:srgbClr val="667D33"/>
              </a:solidFill>
            </a:endParaRPr>
          </a:p>
        </p:txBody>
      </p:sp>
      <p:sp>
        <p:nvSpPr>
          <p:cNvPr id="43148079" name="CasellaDiTesto 43148078"/>
          <p:cNvSpPr txBox="1"/>
          <p:nvPr/>
        </p:nvSpPr>
        <p:spPr bwMode="auto">
          <a:xfrm>
            <a:off x="8860964" y="3981449"/>
            <a:ext cx="289706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>
                <a:solidFill>
                  <a:srgbClr val="667D33"/>
                </a:solidFill>
              </a:rPr>
              <a:t>Distrazione alla guida</a:t>
            </a:r>
            <a:endParaRPr b="1">
              <a:solidFill>
                <a:srgbClr val="667D33"/>
              </a:solidFill>
            </a:endParaRPr>
          </a:p>
        </p:txBody>
      </p:sp>
      <p:sp>
        <p:nvSpPr>
          <p:cNvPr id="2045319095" name="CasellaDiTesto 2045319094"/>
          <p:cNvSpPr txBox="1"/>
          <p:nvPr/>
        </p:nvSpPr>
        <p:spPr bwMode="auto">
          <a:xfrm>
            <a:off x="429081" y="4449231"/>
            <a:ext cx="2900498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just">
              <a:defRPr/>
            </a:pPr>
            <a:r>
              <a:rPr lang="it-IT" sz="1600"/>
              <a:t>La </a:t>
            </a:r>
            <a:r>
              <a:rPr lang="it-IT" sz="1600" i="1"/>
              <a:t>gestione manuale</a:t>
            </a:r>
            <a:r>
              <a:rPr lang="it-IT" sz="1600"/>
              <a:t> dei documenti introduce inefficienze e tempi morti nella catena logistica.</a:t>
            </a:r>
          </a:p>
        </p:txBody>
      </p:sp>
      <p:sp>
        <p:nvSpPr>
          <p:cNvPr id="972843145" name="CasellaDiTesto 972843144"/>
          <p:cNvSpPr txBox="1"/>
          <p:nvPr/>
        </p:nvSpPr>
        <p:spPr bwMode="auto">
          <a:xfrm>
            <a:off x="4519008" y="4449231"/>
            <a:ext cx="2890778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just">
              <a:defRPr/>
            </a:pPr>
            <a:r>
              <a:rPr lang="it-IT" sz="1600"/>
              <a:t>Manca la </a:t>
            </a:r>
            <a:r>
              <a:rPr lang="it-IT" sz="1600" i="1"/>
              <a:t>conversione automatica</a:t>
            </a:r>
            <a:r>
              <a:rPr lang="it-IT" sz="1600"/>
              <a:t> dei dati cartacei in input di navigazione, obbligando l'operatore all'inserimento manuale dei dati.</a:t>
            </a:r>
          </a:p>
        </p:txBody>
      </p:sp>
      <p:sp>
        <p:nvSpPr>
          <p:cNvPr id="432119386" name="CasellaDiTesto 432119385"/>
          <p:cNvSpPr txBox="1"/>
          <p:nvPr/>
        </p:nvSpPr>
        <p:spPr bwMode="auto">
          <a:xfrm>
            <a:off x="8867889" y="4449231"/>
            <a:ext cx="2919577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just">
              <a:defRPr/>
            </a:pPr>
            <a:r>
              <a:rPr lang="it-IT" sz="1600"/>
              <a:t>L'interazione con interfacce fisiche complesse richiede un impegno visivo e cognitivo che </a:t>
            </a:r>
            <a:r>
              <a:rPr lang="it-IT" sz="1600" i="1"/>
              <a:t>riduce l'attenzione</a:t>
            </a:r>
            <a:r>
              <a:rPr lang="it-IT" sz="1600"/>
              <a:t> dell'autista.</a:t>
            </a:r>
          </a:p>
        </p:txBody>
      </p:sp>
      <p:pic>
        <p:nvPicPr>
          <p:cNvPr id="1007860910" name="Immagine 1007860909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370377" y="2714500"/>
            <a:ext cx="1017903" cy="1017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86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786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6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96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31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4531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28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0328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30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4030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7284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4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148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14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1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211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9FAE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3767755" name="Immagine 211376775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0698" y="1664807"/>
            <a:ext cx="4968401" cy="3913656"/>
          </a:xfrm>
          <a:prstGeom prst="rect">
            <a:avLst/>
          </a:prstGeom>
        </p:spPr>
      </p:pic>
      <p:pic>
        <p:nvPicPr>
          <p:cNvPr id="334086010" name="Immagine 33408600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33900" y="1330590"/>
            <a:ext cx="5811024" cy="4582090"/>
          </a:xfrm>
          <a:prstGeom prst="rect">
            <a:avLst/>
          </a:prstGeom>
        </p:spPr>
      </p:pic>
      <p:sp>
        <p:nvSpPr>
          <p:cNvPr id="865513500" name="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828675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it-IT" sz="2400" b="1"/>
              <a:t>CONTRIBUTO PERSONALE DEL CANDIDATO ALLA SOLUZIONE DEL PROBLEMA</a:t>
            </a:r>
            <a:endParaRPr sz="3600"/>
          </a:p>
        </p:txBody>
      </p:sp>
      <p:cxnSp>
        <p:nvCxnSpPr>
          <p:cNvPr id="1387531489" name="Connettore diritto 4"/>
          <p:cNvCxnSpPr/>
          <p:nvPr/>
        </p:nvCxnSpPr>
        <p:spPr bwMode="auto">
          <a:xfrm>
            <a:off x="450850" y="1346200"/>
            <a:ext cx="11290300" cy="0"/>
          </a:xfrm>
          <a:prstGeom prst="line">
            <a:avLst/>
          </a:prstGeom>
          <a:ln w="19050" cap="flat" cmpd="sng" algn="ctr">
            <a:solidFill>
              <a:srgbClr val="80994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5935118" name="Rettangolo con un angolo ritagliato 5"/>
          <p:cNvSpPr/>
          <p:nvPr/>
        </p:nvSpPr>
        <p:spPr bwMode="auto">
          <a:xfrm>
            <a:off x="0" y="6176963"/>
            <a:ext cx="11263168" cy="681037"/>
          </a:xfrm>
          <a:prstGeom prst="snip1Rect">
            <a:avLst>
              <a:gd name="adj" fmla="val 50000"/>
            </a:avLst>
          </a:prstGeom>
          <a:solidFill>
            <a:srgbClr val="667D33"/>
          </a:solidFill>
          <a:ln w="12700" cap="flat" cmpd="sng" algn="ctr">
            <a:solidFill>
              <a:srgbClr val="ADC77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it-IT"/>
          </a:p>
        </p:txBody>
      </p:sp>
      <p:pic>
        <p:nvPicPr>
          <p:cNvPr id="1164070558" name="Immagine 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263168" y="6065066"/>
            <a:ext cx="858982" cy="855618"/>
          </a:xfrm>
          <a:prstGeom prst="rect">
            <a:avLst/>
          </a:prstGeom>
        </p:spPr>
      </p:pic>
      <p:sp>
        <p:nvSpPr>
          <p:cNvPr id="1266106259" name="CasellaDiTesto 8"/>
          <p:cNvSpPr txBox="1"/>
          <p:nvPr/>
        </p:nvSpPr>
        <p:spPr bwMode="auto">
          <a:xfrm>
            <a:off x="6870700" y="6332815"/>
            <a:ext cx="374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>
                <a:solidFill>
                  <a:schemeClr val="bg1"/>
                </a:solidFill>
              </a:rPr>
              <a:t>UNIVERSITÀ DEGLI STUDI DI SALERNO  </a:t>
            </a:r>
            <a:endParaRPr/>
          </a:p>
        </p:txBody>
      </p:sp>
      <p:sp>
        <p:nvSpPr>
          <p:cNvPr id="743181213" name="CasellaDiTesto 743181212"/>
          <p:cNvSpPr txBox="1"/>
          <p:nvPr/>
        </p:nvSpPr>
        <p:spPr bwMode="auto">
          <a:xfrm>
            <a:off x="559833" y="1775710"/>
            <a:ext cx="5874425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marL="217793" indent="-217793" algn="just">
              <a:lnSpc>
                <a:spcPct val="100000"/>
              </a:lnSpc>
              <a:buFont typeface="Arial"/>
              <a:buChar char="•"/>
              <a:defRPr/>
            </a:pPr>
            <a:r>
              <a:rPr lang="en-US" sz="1600" b="1">
                <a:solidFill>
                  <a:srgbClr val="667D33"/>
                </a:solidFill>
              </a:rPr>
              <a:t>Architettura frontend a livelli</a:t>
            </a:r>
            <a:r>
              <a:rPr sz="1600" b="1">
                <a:solidFill>
                  <a:srgbClr val="667D33"/>
                </a:solidFill>
              </a:rPr>
              <a:t>:</a:t>
            </a:r>
            <a:r>
              <a:rPr sz="1600"/>
              <a:t> Progettazione di una struttura scalabile suddivisa in </a:t>
            </a:r>
            <a:r>
              <a:rPr sz="1600" i="1"/>
              <a:t>Presentation Layer</a:t>
            </a:r>
            <a:r>
              <a:rPr sz="1600"/>
              <a:t> e </a:t>
            </a:r>
            <a:r>
              <a:rPr sz="1600" i="1"/>
              <a:t>Services Layer</a:t>
            </a:r>
            <a:r>
              <a:rPr sz="1600"/>
              <a:t>, disaccoppiando l'interfaccia utente dalla logica di integrazione.</a:t>
            </a:r>
          </a:p>
        </p:txBody>
      </p:sp>
      <p:sp>
        <p:nvSpPr>
          <p:cNvPr id="117745700" name="CasellaDiTesto 117745699"/>
          <p:cNvSpPr txBox="1"/>
          <p:nvPr/>
        </p:nvSpPr>
        <p:spPr bwMode="auto">
          <a:xfrm>
            <a:off x="583470" y="3937208"/>
            <a:ext cx="6042159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17792" indent="-217792" algn="just">
              <a:lnSpc>
                <a:spcPct val="100000"/>
              </a:lnSpc>
              <a:buFont typeface="Arial"/>
              <a:buChar char="•"/>
              <a:defRPr/>
            </a:pPr>
            <a:r>
              <a:rPr sz="1600" b="1">
                <a:solidFill>
                  <a:srgbClr val="667D33"/>
                </a:solidFill>
              </a:rPr>
              <a:t>Integrazione dei Servizi AI</a:t>
            </a:r>
            <a:r>
              <a:rPr sz="1600"/>
              <a:t>: Implementazione di una suite di servizi per l'interazione </a:t>
            </a:r>
            <a:r>
              <a:rPr lang="en-US" sz="1600"/>
              <a:t>asincrona </a:t>
            </a:r>
            <a:r>
              <a:rPr sz="1600"/>
              <a:t>con i container </a:t>
            </a:r>
            <a:r>
              <a:rPr lang="en-US" sz="1600"/>
              <a:t>AI di </a:t>
            </a:r>
            <a:r>
              <a:rPr sz="1600"/>
              <a:t>backend, incapsulando le chiamate </a:t>
            </a:r>
            <a:r>
              <a:rPr lang="en-US" sz="1600"/>
              <a:t>HTTP </a:t>
            </a:r>
            <a:r>
              <a:rPr sz="1600"/>
              <a:t>REST e la deserializzazione dei dati.</a:t>
            </a:r>
            <a:endParaRPr lang="en-US" sz="1600"/>
          </a:p>
        </p:txBody>
      </p:sp>
      <p:sp>
        <p:nvSpPr>
          <p:cNvPr id="2081049615" name="CasellaDiTesto 2081049614"/>
          <p:cNvSpPr txBox="1"/>
          <p:nvPr/>
        </p:nvSpPr>
        <p:spPr bwMode="auto">
          <a:xfrm>
            <a:off x="583470" y="5018049"/>
            <a:ext cx="6099399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17792" indent="-217792" algn="just">
              <a:lnSpc>
                <a:spcPct val="100000"/>
              </a:lnSpc>
              <a:buFont typeface="Arial"/>
              <a:buChar char="•"/>
              <a:defRPr/>
            </a:pPr>
            <a:r>
              <a:rPr lang="en-US" sz="1600" b="1">
                <a:solidFill>
                  <a:srgbClr val="667D33"/>
                </a:solidFill>
              </a:rPr>
              <a:t>Gestione </a:t>
            </a:r>
            <a:r>
              <a:rPr sz="1600" b="1">
                <a:solidFill>
                  <a:srgbClr val="667D33"/>
                </a:solidFill>
              </a:rPr>
              <a:t>degli "</a:t>
            </a:r>
            <a:r>
              <a:rPr lang="en-US" sz="1600" b="1">
                <a:solidFill>
                  <a:srgbClr val="667D33"/>
                </a:solidFill>
              </a:rPr>
              <a:t>i</a:t>
            </a:r>
            <a:r>
              <a:rPr sz="1600" b="1">
                <a:solidFill>
                  <a:srgbClr val="667D33"/>
                </a:solidFill>
              </a:rPr>
              <a:t>ntent </a:t>
            </a:r>
            <a:r>
              <a:rPr lang="en-US" sz="1600" b="1">
                <a:solidFill>
                  <a:srgbClr val="667D33"/>
                </a:solidFill>
              </a:rPr>
              <a:t>v</a:t>
            </a:r>
            <a:r>
              <a:rPr sz="1600" b="1">
                <a:solidFill>
                  <a:srgbClr val="667D33"/>
                </a:solidFill>
              </a:rPr>
              <a:t>ocali":</a:t>
            </a:r>
            <a:r>
              <a:rPr sz="1600"/>
              <a:t> </a:t>
            </a:r>
            <a:r>
              <a:rPr lang="en-US" sz="1600"/>
              <a:t>C</a:t>
            </a:r>
            <a:r>
              <a:rPr sz="1600"/>
              <a:t>lassificazione semantica dei comandi </a:t>
            </a:r>
            <a:r>
              <a:rPr lang="en-US" sz="1600"/>
              <a:t>ed </a:t>
            </a:r>
            <a:r>
              <a:rPr sz="1600"/>
              <a:t>esecuzione contestuale di azioni</a:t>
            </a:r>
            <a:r>
              <a:rPr lang="en-US" sz="1600"/>
              <a:t>.</a:t>
            </a:r>
            <a:endParaRPr sz="1600"/>
          </a:p>
        </p:txBody>
      </p:sp>
      <p:sp>
        <p:nvSpPr>
          <p:cNvPr id="1603358977" name="CasellaDiTesto 1603358976"/>
          <p:cNvSpPr txBox="1"/>
          <p:nvPr/>
        </p:nvSpPr>
        <p:spPr bwMode="auto">
          <a:xfrm>
            <a:off x="583470" y="2856369"/>
            <a:ext cx="6036038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17792" indent="-217792" algn="just">
              <a:lnSpc>
                <a:spcPct val="100000"/>
              </a:lnSpc>
              <a:buFont typeface="Arial"/>
              <a:buChar char="•"/>
              <a:defRPr/>
            </a:pPr>
            <a:r>
              <a:rPr lang="en-US" sz="1600" b="1">
                <a:solidFill>
                  <a:srgbClr val="667D33"/>
                </a:solidFill>
              </a:rPr>
              <a:t>Gestione reattiva dello stato</a:t>
            </a:r>
            <a:r>
              <a:rPr sz="1600">
                <a:solidFill>
                  <a:srgbClr val="667D33"/>
                </a:solidFill>
              </a:rPr>
              <a:t>:</a:t>
            </a:r>
            <a:r>
              <a:rPr sz="1600"/>
              <a:t> Implementazione del pattern Provider per la sincronizzazione real-time della sessione di guida tra </a:t>
            </a:r>
            <a:r>
              <a:rPr lang="en-US" sz="1600"/>
              <a:t>le varie schermate operative.</a:t>
            </a:r>
            <a:endParaRPr sz="1600"/>
          </a:p>
        </p:txBody>
      </p:sp>
      <p:pic>
        <p:nvPicPr>
          <p:cNvPr id="2008129453" name="Immagine 2008129452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524167" y="1583245"/>
            <a:ext cx="3190876" cy="4192889"/>
          </a:xfrm>
          <a:prstGeom prst="rect">
            <a:avLst/>
          </a:prstGeom>
        </p:spPr>
      </p:pic>
      <p:pic>
        <p:nvPicPr>
          <p:cNvPr id="365407770" name="Immagine 365407769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507133" y="2371736"/>
            <a:ext cx="5664560" cy="23118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35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335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76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8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408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4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774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8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2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0812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04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8104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2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40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540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9FAE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854494" name="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828675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it-IT" sz="2400" b="1"/>
              <a:t>DESCRIZIONE DEI CONTRIBUTI APPLICATIVI/SPERIMENTALI DELL’ELABORATO</a:t>
            </a:r>
            <a:endParaRPr sz="3600"/>
          </a:p>
        </p:txBody>
      </p:sp>
      <p:cxnSp>
        <p:nvCxnSpPr>
          <p:cNvPr id="904594451" name="Connettore diritto 4"/>
          <p:cNvCxnSpPr/>
          <p:nvPr/>
        </p:nvCxnSpPr>
        <p:spPr bwMode="auto">
          <a:xfrm>
            <a:off x="450850" y="1346200"/>
            <a:ext cx="11290300" cy="0"/>
          </a:xfrm>
          <a:prstGeom prst="line">
            <a:avLst/>
          </a:prstGeom>
          <a:ln w="19050" cap="flat" cmpd="sng" algn="ctr">
            <a:solidFill>
              <a:srgbClr val="80994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3338794" name="Rettangolo con un angolo ritagliato 5"/>
          <p:cNvSpPr/>
          <p:nvPr/>
        </p:nvSpPr>
        <p:spPr bwMode="auto">
          <a:xfrm>
            <a:off x="0" y="6176963"/>
            <a:ext cx="11263168" cy="681037"/>
          </a:xfrm>
          <a:prstGeom prst="snip1Rect">
            <a:avLst>
              <a:gd name="adj" fmla="val 50000"/>
            </a:avLst>
          </a:prstGeom>
          <a:solidFill>
            <a:srgbClr val="667D33"/>
          </a:solidFill>
          <a:ln w="12700" cap="flat" cmpd="sng" algn="ctr">
            <a:solidFill>
              <a:srgbClr val="ADC77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it-IT"/>
          </a:p>
        </p:txBody>
      </p:sp>
      <p:pic>
        <p:nvPicPr>
          <p:cNvPr id="260148533" name="Immagine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263168" y="6065066"/>
            <a:ext cx="858982" cy="855618"/>
          </a:xfrm>
          <a:prstGeom prst="rect">
            <a:avLst/>
          </a:prstGeom>
        </p:spPr>
      </p:pic>
      <p:sp>
        <p:nvSpPr>
          <p:cNvPr id="1964258061" name="CasellaDiTesto 8"/>
          <p:cNvSpPr txBox="1"/>
          <p:nvPr/>
        </p:nvSpPr>
        <p:spPr bwMode="auto">
          <a:xfrm>
            <a:off x="6870700" y="6332815"/>
            <a:ext cx="374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>
                <a:solidFill>
                  <a:schemeClr val="bg1"/>
                </a:solidFill>
              </a:rPr>
              <a:t>UNIVERSITÀ DEGLI STUDI DI SALERNO  </a:t>
            </a:r>
            <a:endParaRPr/>
          </a:p>
        </p:txBody>
      </p:sp>
      <p:sp>
        <p:nvSpPr>
          <p:cNvPr id="519171345" name="CasellaDiTesto 519171344"/>
          <p:cNvSpPr txBox="1"/>
          <p:nvPr/>
        </p:nvSpPr>
        <p:spPr bwMode="auto">
          <a:xfrm>
            <a:off x="243339" y="1732640"/>
            <a:ext cx="4322487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9" indent="-283879" algn="just">
              <a:buFont typeface="Arial"/>
              <a:buChar char="•"/>
              <a:defRPr/>
            </a:pPr>
            <a:r>
              <a:rPr lang="it-IT" b="1">
                <a:solidFill>
                  <a:srgbClr val="667D33"/>
                </a:solidFill>
              </a:rPr>
              <a:t>Onboarding Automatizzato</a:t>
            </a:r>
            <a:r>
              <a:rPr lang="it-IT">
                <a:solidFill>
                  <a:srgbClr val="667D33"/>
                </a:solidFill>
              </a:rPr>
              <a:t>:</a:t>
            </a:r>
            <a:r>
              <a:rPr lang="it-IT"/>
              <a:t> Scansione </a:t>
            </a:r>
            <a:r>
              <a:rPr lang="it-IT" i="1"/>
              <a:t>OCR </a:t>
            </a:r>
            <a:r>
              <a:rPr lang="it-IT"/>
              <a:t>dei documenti</a:t>
            </a:r>
            <a:r>
              <a:rPr lang="en-US"/>
              <a:t> </a:t>
            </a:r>
            <a:r>
              <a:rPr lang="it-IT"/>
              <a:t>per l'estrazione automatica dei dati di viaggio .</a:t>
            </a:r>
          </a:p>
        </p:txBody>
      </p:sp>
      <p:pic>
        <p:nvPicPr>
          <p:cNvPr id="142845551" name="Immagine 14284555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85685" y="1514983"/>
            <a:ext cx="2061875" cy="4356099"/>
          </a:xfrm>
          <a:prstGeom prst="rect">
            <a:avLst/>
          </a:prstGeom>
        </p:spPr>
      </p:pic>
      <p:pic>
        <p:nvPicPr>
          <p:cNvPr id="2013253283" name="Immagine 201325328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432277" y="1526435"/>
            <a:ext cx="2051034" cy="4333195"/>
          </a:xfrm>
          <a:prstGeom prst="rect">
            <a:avLst/>
          </a:prstGeom>
        </p:spPr>
      </p:pic>
      <p:pic>
        <p:nvPicPr>
          <p:cNvPr id="1671469857" name="Immagine 167146985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868027" y="1514983"/>
            <a:ext cx="2061875" cy="4356099"/>
          </a:xfrm>
          <a:prstGeom prst="rect">
            <a:avLst/>
          </a:prstGeom>
        </p:spPr>
      </p:pic>
      <p:sp>
        <p:nvSpPr>
          <p:cNvPr id="421159609" name="CasellaDiTesto 421159608"/>
          <p:cNvSpPr txBox="1"/>
          <p:nvPr/>
        </p:nvSpPr>
        <p:spPr bwMode="auto">
          <a:xfrm>
            <a:off x="239558" y="2977058"/>
            <a:ext cx="4317086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8" indent="-283878" algn="just">
              <a:buFont typeface="Arial"/>
              <a:buChar char="•"/>
              <a:defRPr/>
            </a:pPr>
            <a:r>
              <a:rPr lang="it-IT" b="1">
                <a:solidFill>
                  <a:srgbClr val="667D33"/>
                </a:solidFill>
              </a:rPr>
              <a:t>Navigazione Intelligente</a:t>
            </a:r>
            <a:r>
              <a:rPr lang="it-IT">
                <a:solidFill>
                  <a:srgbClr val="667D33"/>
                </a:solidFill>
              </a:rPr>
              <a:t>:</a:t>
            </a:r>
            <a:r>
              <a:rPr lang="it-IT"/>
              <a:t> Geocoding automatico della destinazione estratta dal DDT e avvio della guida </a:t>
            </a:r>
            <a:r>
              <a:rPr lang="it-IT" i="1"/>
              <a:t>turn-by-turn</a:t>
            </a:r>
            <a:r>
              <a:rPr lang="it-IT"/>
              <a:t> </a:t>
            </a:r>
            <a:r>
              <a:rPr lang="en-US"/>
              <a:t>mediante </a:t>
            </a:r>
            <a:r>
              <a:rPr lang="en-US" i="1"/>
              <a:t>Google Navigation SDK</a:t>
            </a:r>
            <a:r>
              <a:rPr lang="it-IT"/>
              <a:t>.</a:t>
            </a:r>
          </a:p>
        </p:txBody>
      </p:sp>
      <p:sp>
        <p:nvSpPr>
          <p:cNvPr id="924177485" name="CasellaDiTesto 924177484"/>
          <p:cNvSpPr txBox="1"/>
          <p:nvPr/>
        </p:nvSpPr>
        <p:spPr bwMode="auto">
          <a:xfrm>
            <a:off x="242618" y="4495797"/>
            <a:ext cx="4326806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8" indent="-283878" algn="just">
              <a:buFont typeface="Arial"/>
              <a:buChar char="•"/>
              <a:defRPr/>
            </a:pPr>
            <a:r>
              <a:rPr lang="it-IT" b="1">
                <a:solidFill>
                  <a:srgbClr val="667D33"/>
                </a:solidFill>
              </a:rPr>
              <a:t>Interazione Vocale</a:t>
            </a:r>
            <a:r>
              <a:rPr lang="en-US" b="1">
                <a:solidFill>
                  <a:srgbClr val="667D33"/>
                </a:solidFill>
              </a:rPr>
              <a:t> Bidirezionale</a:t>
            </a:r>
            <a:r>
              <a:rPr lang="it-IT">
                <a:solidFill>
                  <a:srgbClr val="667D33"/>
                </a:solidFill>
              </a:rPr>
              <a:t>:</a:t>
            </a:r>
            <a:r>
              <a:rPr lang="en-US"/>
              <a:t> </a:t>
            </a:r>
            <a:r>
              <a:t>Gestione completa dei flussi informativi tramite </a:t>
            </a:r>
            <a:r>
              <a:rPr i="1"/>
              <a:t>sintesi e riconoscimento vocale</a:t>
            </a:r>
            <a:r>
              <a:rPr lang="en-US"/>
              <a:t> per interazioni hands-free.</a:t>
            </a:r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192639" name="Segnaposto contenuto 2"/>
          <p:cNvSpPr>
            <a:spLocks noGrp="1"/>
          </p:cNvSpPr>
          <p:nvPr>
            <p:ph idx="1"/>
          </p:nvPr>
        </p:nvSpPr>
        <p:spPr bwMode="auto">
          <a:xfrm>
            <a:off x="977900" y="2057400"/>
            <a:ext cx="10236200" cy="2743199"/>
          </a:xfrm>
        </p:spPr>
        <p:txBody>
          <a:bodyPr>
            <a:normAutofit/>
          </a:bodyPr>
          <a:lstStyle/>
          <a:p>
            <a:pPr marL="0" indent="0" algn="ctr">
              <a:buNone/>
              <a:defRPr/>
            </a:pPr>
            <a:r>
              <a:rPr lang="it-IT" sz="7200" b="1">
                <a:latin typeface="+mj-lt"/>
              </a:rPr>
              <a:t>GRAZIE PER L’ATTENZIONE</a:t>
            </a:r>
            <a:endParaRPr sz="2200"/>
          </a:p>
        </p:txBody>
      </p:sp>
      <p:sp>
        <p:nvSpPr>
          <p:cNvPr id="1530493384" name="Rettangolo con un angolo ritagliato 3"/>
          <p:cNvSpPr/>
          <p:nvPr/>
        </p:nvSpPr>
        <p:spPr bwMode="auto">
          <a:xfrm>
            <a:off x="0" y="6176963"/>
            <a:ext cx="11263168" cy="681037"/>
          </a:xfrm>
          <a:prstGeom prst="snip1Rect">
            <a:avLst>
              <a:gd name="adj" fmla="val 50000"/>
            </a:avLst>
          </a:prstGeom>
          <a:solidFill>
            <a:srgbClr val="667D33"/>
          </a:solidFill>
          <a:ln w="12700" cap="flat" cmpd="sng" algn="ctr">
            <a:solidFill>
              <a:srgbClr val="ADC77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it-IT"/>
          </a:p>
        </p:txBody>
      </p:sp>
      <p:pic>
        <p:nvPicPr>
          <p:cNvPr id="1681621211" name="Immagin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263168" y="6065066"/>
            <a:ext cx="858982" cy="855618"/>
          </a:xfrm>
          <a:prstGeom prst="rect">
            <a:avLst/>
          </a:prstGeom>
        </p:spPr>
      </p:pic>
      <p:sp>
        <p:nvSpPr>
          <p:cNvPr id="1349696346" name="CasellaDiTesto 5"/>
          <p:cNvSpPr txBox="1"/>
          <p:nvPr/>
        </p:nvSpPr>
        <p:spPr bwMode="auto">
          <a:xfrm>
            <a:off x="6870700" y="6332815"/>
            <a:ext cx="374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>
                <a:solidFill>
                  <a:schemeClr val="bg1"/>
                </a:solidFill>
              </a:rPr>
              <a:t>UNIVERSITÀ DEGLI STUDI DI SALERNO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5</Slides>
  <Notes>5</Notes>
  <HiddenSlides>0</HiddenSlides>
  <MMClips>2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UNIVERSITÀ DEGLI STUDI DI SALERNO</vt:lpstr>
      <vt:lpstr>DESCRIZIONE DEL PROBLEMA AFFRONTATO</vt:lpstr>
      <vt:lpstr>CONTRIBUTO PERSONALE DEL CANDIDATO ALLA SOLUZIONE DEL PROBLEMA</vt:lpstr>
      <vt:lpstr>DESCRIZIONE DEI CONTRIBUTI APPLICATIVI/SPERIMENTALI DELL’ELABORATO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UNIVERSITÀ DEGLI STUDI DI SALERNO   </dc:title>
  <dc:creator>Filippo Marciano</dc:creator>
  <cp:lastModifiedBy/>
  <cp:revision>65</cp:revision>
  <dcterms:created xsi:type="dcterms:W3CDTF">2019-07-11T12:00:39Z</dcterms:created>
  <dcterms:modified xsi:type="dcterms:W3CDTF">2025-12-12T16:53:29Z</dcterms:modified>
</cp:coreProperties>
</file>